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5575F5-DA7C-47B6-8428-98D2A7B5026B}">
  <a:tblStyle styleId="{415575F5-DA7C-47B6-8428-98D2A7B502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4528ef3f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f4528ef3f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4528ef3f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20" Type="http://schemas.openxmlformats.org/officeDocument/2006/relationships/hyperlink" Target="https://fb.me/adspreview/facebook/21EeDWU2heVHLms" TargetMode="External"/><Relationship Id="rId22" Type="http://schemas.openxmlformats.org/officeDocument/2006/relationships/hyperlink" Target="https://fb.me/adspreview/facebook/21EeDWU2heVHLms" TargetMode="External"/><Relationship Id="rId21" Type="http://schemas.openxmlformats.org/officeDocument/2006/relationships/hyperlink" Target="https://fb.me/adspreview/facebook/21EeDWU2heVHLms" TargetMode="External"/><Relationship Id="rId24" Type="http://schemas.openxmlformats.org/officeDocument/2006/relationships/hyperlink" Target="https://fb.me/adspreview/facebook/21EeDWU2heVHLms" TargetMode="External"/><Relationship Id="rId23" Type="http://schemas.openxmlformats.org/officeDocument/2006/relationships/hyperlink" Target="https://fb.me/adspreview/facebook/2aB6vFQtJFsxaTv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fb.me/adspreview/facebook/2f8epbdznSpN6zN" TargetMode="External"/><Relationship Id="rId4" Type="http://schemas.openxmlformats.org/officeDocument/2006/relationships/hyperlink" Target="https://fb.me/adspreview/facebook/21e5vf73ayCJxEZ" TargetMode="External"/><Relationship Id="rId9" Type="http://schemas.openxmlformats.org/officeDocument/2006/relationships/hyperlink" Target="https://fb.me/adspreview/facebook/280lcf7JwgXVlUI" TargetMode="External"/><Relationship Id="rId26" Type="http://schemas.openxmlformats.org/officeDocument/2006/relationships/hyperlink" Target="https://fb.me/adspreview/facebook/2aB6vFQtJFsxaTv" TargetMode="External"/><Relationship Id="rId25" Type="http://schemas.openxmlformats.org/officeDocument/2006/relationships/hyperlink" Target="https://fb.me/adspreview/facebook/2aB6vFQtJFsxaTv" TargetMode="External"/><Relationship Id="rId28" Type="http://schemas.openxmlformats.org/officeDocument/2006/relationships/hyperlink" Target="https://fb.me/adspreview/facebook/2aB6vFQtJFsxaTv" TargetMode="External"/><Relationship Id="rId27" Type="http://schemas.openxmlformats.org/officeDocument/2006/relationships/hyperlink" Target="https://fb.me/adspreview/facebook/21EeDWU2heVHLms" TargetMode="External"/><Relationship Id="rId5" Type="http://schemas.openxmlformats.org/officeDocument/2006/relationships/hyperlink" Target="https://fb.me/adspreview/facebook/2f8epbdznSpN6zN" TargetMode="External"/><Relationship Id="rId6" Type="http://schemas.openxmlformats.org/officeDocument/2006/relationships/hyperlink" Target="https://fb.me/adspreview/facebook/21e5vf73ayCJxEZ" TargetMode="External"/><Relationship Id="rId29" Type="http://schemas.openxmlformats.org/officeDocument/2006/relationships/hyperlink" Target="https://fb.me/adspreview/facebook/21rxun3oO1BxasC" TargetMode="External"/><Relationship Id="rId7" Type="http://schemas.openxmlformats.org/officeDocument/2006/relationships/hyperlink" Target="https://fb.me/adspreview/facebook/2f8epbdznSpN6zN" TargetMode="External"/><Relationship Id="rId8" Type="http://schemas.openxmlformats.org/officeDocument/2006/relationships/hyperlink" Target="https://fb.me/adspreview/facebook/280lcf7JwgXVlUI" TargetMode="External"/><Relationship Id="rId31" Type="http://schemas.openxmlformats.org/officeDocument/2006/relationships/hyperlink" Target="https://fb.me/adspreview/facebook/21EeDWU2heVHLms" TargetMode="External"/><Relationship Id="rId30" Type="http://schemas.openxmlformats.org/officeDocument/2006/relationships/hyperlink" Target="https://fb.me/adspreview/facebook/21rxun3oO1BxasC" TargetMode="External"/><Relationship Id="rId11" Type="http://schemas.openxmlformats.org/officeDocument/2006/relationships/hyperlink" Target="https://fb.me/adspreview/facebook/1QylDDhYIxbfqQE" TargetMode="External"/><Relationship Id="rId33" Type="http://schemas.openxmlformats.org/officeDocument/2006/relationships/hyperlink" Target="https://fb.me/adspreview/facebook/21EeDWU2heVHLms" TargetMode="External"/><Relationship Id="rId10" Type="http://schemas.openxmlformats.org/officeDocument/2006/relationships/hyperlink" Target="https://fb.me/adspreview/facebook/280lcf7JwgXVlUI" TargetMode="External"/><Relationship Id="rId32" Type="http://schemas.openxmlformats.org/officeDocument/2006/relationships/hyperlink" Target="https://fb.me/adspreview/facebook/21rxun3oO1BxasC" TargetMode="External"/><Relationship Id="rId13" Type="http://schemas.openxmlformats.org/officeDocument/2006/relationships/hyperlink" Target="https://fb.me/adspreview/facebook/25s2S46ASNvAPzJ" TargetMode="External"/><Relationship Id="rId12" Type="http://schemas.openxmlformats.org/officeDocument/2006/relationships/hyperlink" Target="https://fb.me/adspreview/facebook/25s2S46ASNvAPzJ" TargetMode="External"/><Relationship Id="rId15" Type="http://schemas.openxmlformats.org/officeDocument/2006/relationships/hyperlink" Target="https://fb.me/adspreview/facebook/25s2S46ASNvAPzJ" TargetMode="External"/><Relationship Id="rId14" Type="http://schemas.openxmlformats.org/officeDocument/2006/relationships/hyperlink" Target="https://fb.me/adspreview/facebook/25s2S46ASNvAPzJ" TargetMode="External"/><Relationship Id="rId17" Type="http://schemas.openxmlformats.org/officeDocument/2006/relationships/hyperlink" Target="https://fb.me/adspreview/facebook/2kig1Bpg28RjayQ" TargetMode="External"/><Relationship Id="rId16" Type="http://schemas.openxmlformats.org/officeDocument/2006/relationships/hyperlink" Target="https://fb.me/adspreview/facebook/2f8epbdznSpN6zN" TargetMode="External"/><Relationship Id="rId19" Type="http://schemas.openxmlformats.org/officeDocument/2006/relationships/hyperlink" Target="https://fb.me/adspreview/facebook/2kig1Bpg28RjayQ" TargetMode="External"/><Relationship Id="rId18" Type="http://schemas.openxmlformats.org/officeDocument/2006/relationships/hyperlink" Target="https://fb.me/adspreview/facebook/2kig1Bpg28RjayQ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b.me/adspreview/facebook/1UwaTgfSt2ywx6s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solidFill>
            <a:srgbClr val="4A1E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241280" y="3840480"/>
            <a:ext cx="4023360" cy="4023360"/>
          </a:xfrm>
          <a:prstGeom prst="ellipse">
            <a:avLst/>
          </a:prstGeom>
          <a:solidFill>
            <a:srgbClr val="4A1E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7ED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57ED0"/>
                </a:solidFill>
                <a:latin typeface="Arial"/>
                <a:ea typeface="Arial"/>
                <a:cs typeface="Arial"/>
                <a:sym typeface="Arial"/>
              </a:rPr>
              <a:t>ВАРИКОЗА НЕТ  ×  HOLY MEDIA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7200" y="196596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Отчёт по рекламным кампаниям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38328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7ED0"/>
              </a:buClr>
              <a:buSzPts val="3000"/>
              <a:buFont typeface="Cambria"/>
              <a:buNone/>
            </a:pPr>
            <a:r>
              <a:rPr b="0" i="1" lang="en-US" sz="3000" u="none" cap="none" strike="noStrike">
                <a:solidFill>
                  <a:srgbClr val="B57ED0"/>
                </a:solidFill>
                <a:latin typeface="Cambria"/>
                <a:ea typeface="Cambria"/>
                <a:cs typeface="Cambria"/>
                <a:sym typeface="Cambria"/>
              </a:rPr>
              <a:t>Июнь 2026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48920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Каналы:  </a:t>
            </a:r>
            <a:r>
              <a:rPr b="0" i="0" lang="en-US" sz="1400" u="none" cap="none" strike="noStrike">
                <a:solidFill>
                  <a:srgbClr val="D9C7E8"/>
                </a:solidFill>
                <a:latin typeface="Arial"/>
                <a:ea typeface="Arial"/>
                <a:cs typeface="Arial"/>
                <a:sym typeface="Arial"/>
              </a:rPr>
              <a:t>Meta Ads  ·  Google Ads 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53492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Гео:  </a:t>
            </a:r>
            <a:r>
              <a:rPr b="0" i="0" lang="en-US" sz="1400" u="none" cap="none" strike="noStrike">
                <a:solidFill>
                  <a:srgbClr val="D9C7E8"/>
                </a:solidFill>
                <a:latin typeface="Arial"/>
                <a:ea typeface="Arial"/>
                <a:cs typeface="Arial"/>
                <a:sym typeface="Arial"/>
              </a:rPr>
              <a:t>Алматы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Общие итоги — июнь 2026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META &amp; GOOGLE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1143000"/>
            <a:ext cx="261289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2" name="Google Shape;32;p4"/>
          <p:cNvSpPr/>
          <p:nvPr/>
        </p:nvSpPr>
        <p:spPr>
          <a:xfrm>
            <a:off x="457200" y="1271016"/>
            <a:ext cx="2612898" cy="637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$</a:t>
            </a:r>
            <a:r>
              <a:rPr b="1" lang="en-US" sz="3000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14 249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880006"/>
            <a:ext cx="2430018" cy="3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Общий бюджет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48640" y="2248510"/>
            <a:ext cx="2430018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Meta + Google + Яндекс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3344418" y="1143000"/>
            <a:ext cx="261289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6" name="Google Shape;36;p4"/>
          <p:cNvSpPr/>
          <p:nvPr/>
        </p:nvSpPr>
        <p:spPr>
          <a:xfrm>
            <a:off x="3344418" y="1271016"/>
            <a:ext cx="2612898" cy="637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2 127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435858" y="1880006"/>
            <a:ext cx="2430018" cy="3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Лиды Meta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435858" y="2248510"/>
            <a:ext cx="2430018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переписки + лид-формы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231636" y="1143000"/>
            <a:ext cx="261289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0" name="Google Shape;40;p4"/>
          <p:cNvSpPr/>
          <p:nvPr/>
        </p:nvSpPr>
        <p:spPr>
          <a:xfrm>
            <a:off x="6231636" y="1271016"/>
            <a:ext cx="2612898" cy="637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546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323076" y="1880006"/>
            <a:ext cx="2430018" cy="3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Конверсии Google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6323076" y="2248510"/>
            <a:ext cx="2430018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ср. CPA $2,56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118854" y="1143000"/>
            <a:ext cx="2612898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4" name="Google Shape;44;p4"/>
          <p:cNvSpPr/>
          <p:nvPr/>
        </p:nvSpPr>
        <p:spPr>
          <a:xfrm>
            <a:off x="9118854" y="1271016"/>
            <a:ext cx="2612898" cy="637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2.5M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9210294" y="1880006"/>
            <a:ext cx="2430018" cy="3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Показы Meta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210294" y="2248510"/>
            <a:ext cx="2430018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охват 814K уник.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27889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600"/>
              <a:buFont typeface="Cambria"/>
              <a:buNone/>
            </a:pPr>
            <a:r>
              <a:rPr b="1" i="0" lang="en-US" sz="19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Сводная таблица по каналам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" name="Google Shape;48;p4"/>
          <p:cNvGraphicFramePr/>
          <p:nvPr/>
        </p:nvGraphicFramePr>
        <p:xfrm>
          <a:off x="457200" y="320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2560325"/>
                <a:gridCol w="1371600"/>
                <a:gridCol w="1737350"/>
                <a:gridCol w="2468875"/>
                <a:gridCol w="1645925"/>
                <a:gridCol w="14904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Канал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Период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Бюджет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Лиды / Конверсии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 / CPA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Статус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Meta Ads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Июнь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$12 476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2 127 лида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$5,87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Активен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Google Ads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Июнь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$1 399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546 конверсий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$2,56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Активен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Яндекс Директ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Июнь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2B2B2B"/>
                          </a:solidFill>
                        </a:rPr>
                        <a:t>$1 399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2B2B2B"/>
                          </a:solidFill>
                        </a:rPr>
                        <a:t>356</a:t>
                      </a:r>
                      <a:r>
                        <a:rPr lang="en-US" sz="1300">
                          <a:solidFill>
                            <a:srgbClr val="2B2B2B"/>
                          </a:solidFill>
                        </a:rPr>
                        <a:t> конверсий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>
                          <a:solidFill>
                            <a:srgbClr val="2B2B2B"/>
                          </a:solidFill>
                        </a:rPr>
                        <a:t>$0,8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Остановлен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2D8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B2D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ИТОГО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Июнь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2D8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6B2D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</a:t>
                      </a:r>
                      <a:r>
                        <a:rPr b="1" lang="en-US" sz="1300">
                          <a:solidFill>
                            <a:srgbClr val="6B2D8E"/>
                          </a:solidFill>
                        </a:rPr>
                        <a:t>4</a:t>
                      </a:r>
                      <a:r>
                        <a:rPr b="1" lang="en-US" sz="1300" u="none" cap="none" strike="noStrike">
                          <a:solidFill>
                            <a:srgbClr val="6B2D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1" lang="en-US" sz="1300">
                          <a:solidFill>
                            <a:srgbClr val="6B2D8E"/>
                          </a:solidFill>
                        </a:rPr>
                        <a:t>249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DCF3"/>
                    </a:solidFill>
                  </a:tcPr>
                </a:tc>
              </a:tr>
            </a:tbl>
          </a:graphicData>
        </a:graphic>
      </p:graphicFrame>
      <p:sp>
        <p:nvSpPr>
          <p:cNvPr id="49" name="Google Shape;49;p4"/>
          <p:cNvSpPr/>
          <p:nvPr/>
        </p:nvSpPr>
        <p:spPr>
          <a:xfrm>
            <a:off x="457200" y="5989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00"/>
              <a:buFont typeface="Arial"/>
              <a:buNone/>
            </a:pPr>
            <a:r>
              <a:rPr b="0" i="1" lang="en-US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Лид Meta = начатая WhatsApp-переписка + лид-форма. Лид-формы </a:t>
            </a:r>
            <a:r>
              <a:rPr i="1" lang="en-US">
                <a:solidFill>
                  <a:srgbClr val="6E6E6E"/>
                </a:solidFill>
              </a:rPr>
              <a:t>в начале были </a:t>
            </a:r>
            <a:r>
              <a:rPr b="0" i="1" lang="en-US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дешевле, но и качество на старте ниже (широкая аудитория A</a:t>
            </a:r>
            <a:r>
              <a:rPr i="1" lang="en-US">
                <a:solidFill>
                  <a:srgbClr val="6E6E6E"/>
                </a:solidFill>
              </a:rPr>
              <a:t>d+, были</a:t>
            </a:r>
            <a:r>
              <a:rPr b="0" i="1" lang="en-US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 заявки из других городов).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Ключевые события — июнь 2026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7200" y="1197864"/>
            <a:ext cx="566928" cy="566928"/>
          </a:xfrm>
          <a:prstGeom prst="ellipse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" name="Google Shape;59;p5"/>
          <p:cNvSpPr/>
          <p:nvPr/>
        </p:nvSpPr>
        <p:spPr>
          <a:xfrm>
            <a:off x="457200" y="119786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1234440" y="1143000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Блокировка Instagram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Часть кампаний временно запускали с ФБ-аккаунта (страница Facebook). CPL на этих кампаниях временно выше.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57200" y="2039112"/>
            <a:ext cx="566928" cy="566928"/>
          </a:xfrm>
          <a:prstGeom prst="ellipse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" name="Google Shape;62;p5"/>
          <p:cNvSpPr/>
          <p:nvPr/>
        </p:nvSpPr>
        <p:spPr>
          <a:xfrm>
            <a:off x="457200" y="20391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234440" y="1984248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Разблокировка IG — возврат кампаний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После снятия блока вернули прежние кампании на основной аккаунт.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2880360"/>
            <a:ext cx="566928" cy="566928"/>
          </a:xfrm>
          <a:prstGeom prst="ellipse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5" name="Google Shape;65;p5"/>
          <p:cNvSpPr/>
          <p:nvPr/>
        </p:nvSpPr>
        <p:spPr>
          <a:xfrm>
            <a:off x="457200" y="2880360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234440" y="2825496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Отключение неэффективных креативов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 инициативе клиента отключены крео с CPL &gt; $7 и без открута.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57200" y="3721608"/>
            <a:ext cx="566928" cy="566928"/>
          </a:xfrm>
          <a:prstGeom prst="ellipse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8" name="Google Shape;68;p5"/>
          <p:cNvSpPr/>
          <p:nvPr/>
        </p:nvSpPr>
        <p:spPr>
          <a:xfrm>
            <a:off x="457200" y="3721608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234440" y="3666744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Запуск новых креативов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Летние офферы: статика + видео, в т.ч. казахские версии.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7200" y="4562856"/>
            <a:ext cx="566928" cy="5669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1" name="Google Shape;71;p5"/>
          <p:cNvSpPr/>
          <p:nvPr/>
        </p:nvSpPr>
        <p:spPr>
          <a:xfrm>
            <a:off x="457200" y="4562856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1234440" y="4507992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Запущен look-a-like на базу клиентов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LAL на клиентскую базу — новая аудитория в тесте.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457200" y="5404104"/>
            <a:ext cx="566928" cy="566928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" name="Google Shape;74;p5"/>
          <p:cNvSpPr/>
          <p:nvPr/>
        </p:nvSpPr>
        <p:spPr>
          <a:xfrm>
            <a:off x="457200" y="5404104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34440" y="5349240"/>
            <a:ext cx="104973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Google video (Demand Gen) остановлен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 просьбе клиента поставлен на паузу; поисковая кампания активна.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57200" y="626364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50"/>
              <a:buFont typeface="Arial"/>
              <a:buNone/>
            </a:pP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Каждая смена аккаунта / страницы = период дообучения кампаний, что временно поднимает CPL.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 Ads — кампании и структура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1097280"/>
            <a:ext cx="2612898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" name="Google Shape;86;p6"/>
          <p:cNvSpPr/>
          <p:nvPr/>
        </p:nvSpPr>
        <p:spPr>
          <a:xfrm>
            <a:off x="457200" y="1225296"/>
            <a:ext cx="26128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$12 476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48640" y="1739189"/>
            <a:ext cx="2430018" cy="34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Бюджет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2060143"/>
            <a:ext cx="2430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июнь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344418" y="1097280"/>
            <a:ext cx="2612898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0" name="Google Shape;90;p6"/>
          <p:cNvSpPr/>
          <p:nvPr/>
        </p:nvSpPr>
        <p:spPr>
          <a:xfrm>
            <a:off x="3344418" y="1225296"/>
            <a:ext cx="26128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2 127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435858" y="1739189"/>
            <a:ext cx="2430018" cy="34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Лиды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435858" y="2060143"/>
            <a:ext cx="2430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переписки + формы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231636" y="1097280"/>
            <a:ext cx="2612898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4" name="Google Shape;94;p6"/>
          <p:cNvSpPr/>
          <p:nvPr/>
        </p:nvSpPr>
        <p:spPr>
          <a:xfrm>
            <a:off x="6231636" y="1225296"/>
            <a:ext cx="26128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$5,87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323076" y="1739189"/>
            <a:ext cx="2430018" cy="34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CPL блендед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323076" y="2060143"/>
            <a:ext cx="2430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весь спенд / лиды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9118854" y="1097280"/>
            <a:ext cx="2612898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98" name="Google Shape;98;p6"/>
          <p:cNvSpPr/>
          <p:nvPr/>
        </p:nvSpPr>
        <p:spPr>
          <a:xfrm>
            <a:off x="9118854" y="1225296"/>
            <a:ext cx="2612898" cy="55549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1,23%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9210294" y="1739189"/>
            <a:ext cx="2430018" cy="345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CTR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9210294" y="2060143"/>
            <a:ext cx="2430018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1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CPC $0,40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p6"/>
          <p:cNvGraphicFramePr/>
          <p:nvPr/>
        </p:nvGraphicFramePr>
        <p:xfrm>
          <a:off x="457200" y="251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4400150"/>
                <a:gridCol w="2697775"/>
                <a:gridCol w="1471400"/>
                <a:gridCol w="1224000"/>
                <a:gridCol w="1293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Кампания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Цель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Результат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Бюджет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Cost/рез.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вовлеченность </a:t>
                      </a: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whatsapp</a:t>
                      </a: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77710717732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1 282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$7 355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$5,74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вовлеченность </a:t>
                      </a: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whatsapp 77717997093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$2 488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$5,47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трафик whatsapp 77710717732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клики по ссылке </a:t>
                      </a: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на WA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9 075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$609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$0,07 (</a:t>
                      </a: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за клик)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ремаркетинг WA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$1 523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$6,68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лид-формы (formfb)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лид-формы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$194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~$1,34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директ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direct-переписки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15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$7,2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вакансии (WA)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$97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$8,08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ФБ-аккаунт </a:t>
                      </a:r>
                      <a:r>
                        <a:rPr lang="en-US" sz="1200">
                          <a:solidFill>
                            <a:srgbClr val="2B2B2B"/>
                          </a:solidFill>
                        </a:rPr>
                        <a:t>вовлеченность whatsapp </a:t>
                      </a: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(период блока IG)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WA-переписки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$102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$20,35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6"/>
          <p:cNvSpPr/>
          <p:nvPr/>
        </p:nvSpPr>
        <p:spPr>
          <a:xfrm>
            <a:off x="457200" y="6305612"/>
            <a:ext cx="1127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050"/>
              <a:buFont typeface="Arial"/>
              <a:buNone/>
            </a:pPr>
            <a:r>
              <a:rPr b="1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Директ</a:t>
            </a: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 — кампания на вовлечённость (цель</a:t>
            </a:r>
            <a:r>
              <a:rPr i="1" lang="en-US" sz="1250">
                <a:solidFill>
                  <a:srgbClr val="6E6E6E"/>
                </a:solidFill>
              </a:rPr>
              <a:t> –</a:t>
            </a: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 нача</a:t>
            </a:r>
            <a:r>
              <a:rPr i="1" lang="en-US" sz="1250">
                <a:solidFill>
                  <a:srgbClr val="6E6E6E"/>
                </a:solidFill>
              </a:rPr>
              <a:t>тые</a:t>
            </a: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 перепис</a:t>
            </a:r>
            <a:r>
              <a:rPr i="1" lang="en-US" sz="1250">
                <a:solidFill>
                  <a:srgbClr val="6E6E6E"/>
                </a:solidFill>
              </a:rPr>
              <a:t>ки</a:t>
            </a: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).  </a:t>
            </a:r>
            <a:r>
              <a:rPr b="1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Лид-формы</a:t>
            </a:r>
            <a:r>
              <a:rPr b="0" i="1" lang="en-US" sz="12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 — дешевле, но качество на старте ниже (широкая ауд. + др. города).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 Ads — качественные креативы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7200" y="1129185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Cambria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Лучшие креативы (одинаковые крео агрегированы по всем группам/аудиториям)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2" name="Google Shape;112;p7"/>
          <p:cNvGraphicFramePr/>
          <p:nvPr/>
        </p:nvGraphicFramePr>
        <p:xfrm>
          <a:off x="457200" y="1605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4817825"/>
                <a:gridCol w="1355525"/>
                <a:gridCol w="1203625"/>
                <a:gridCol w="1218375"/>
                <a:gridCol w="1371600"/>
                <a:gridCol w="13076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Креатив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>
                          <a:solidFill>
                            <a:srgbClr val="FFFFFF"/>
                          </a:solidFill>
                        </a:rPr>
                        <a:t>Расход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Переписки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CPL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Реакции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Досмотр 95%/25%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Пост-видео «Каждое лето прячете ноги?»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$1 128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$4,64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818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4"/>
                        </a:rPr>
                        <a:t>Статика </a:t>
                      </a:r>
                      <a:r>
                        <a:rPr lang="en-US" sz="1200" u="sng">
                          <a:solidFill>
                            <a:schemeClr val="hlink"/>
                          </a:solidFill>
                          <a:hlinkClick r:id="rId5"/>
                        </a:rPr>
                        <a:t>«</a:t>
                      </a:r>
                      <a:r>
                        <a:rPr lang="en-US" sz="1200" u="sng">
                          <a:solidFill>
                            <a:schemeClr val="hlink"/>
                          </a:solidFill>
                          <a:hlinkClick r:id="rId6"/>
                        </a:rPr>
                        <a:t>Возвращаем уверенность</a:t>
                      </a:r>
                      <a:r>
                        <a:rPr lang="en-US" sz="1200" u="sng">
                          <a:solidFill>
                            <a:schemeClr val="hlink"/>
                          </a:solidFill>
                          <a:hlinkClick r:id="rId7"/>
                        </a:rPr>
                        <a:t>»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$2 916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579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$5,04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393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8"/>
                        </a:rPr>
                        <a:t>Видео «Думаете</a:t>
                      </a:r>
                      <a:r>
                        <a:rPr lang="en-US" sz="1200" u="sng">
                          <a:solidFill>
                            <a:schemeClr val="hlink"/>
                          </a:solidFill>
                          <a:hlinkClick r:id="rId9"/>
                        </a:rPr>
                        <a:t>, что лечение варикоза это обязательно больница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0"/>
                        </a:rPr>
                        <a:t>»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$1 984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$5,59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1 133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1"/>
                        </a:rPr>
                        <a:t>Видео «Варикоз не проходит сам» (каз.)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$1 071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$5,92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487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2"/>
                        </a:rPr>
                        <a:t>Видео 2 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3"/>
                        </a:rPr>
                        <a:t>«</a:t>
                      </a:r>
                      <a:r>
                        <a:rPr lang="en-US" sz="1200" u="sng">
                          <a:solidFill>
                            <a:schemeClr val="hlink"/>
                          </a:solidFill>
                          <a:hlinkClick r:id="rId14"/>
                        </a:rPr>
                        <a:t>Диагностика варикиза без анализов</a:t>
                      </a:r>
                      <a:r>
                        <a:rPr lang="en-US" sz="1200" u="sng" cap="none" strike="noStrike">
                          <a:solidFill>
                            <a:schemeClr val="hlink"/>
                          </a:solidFill>
                          <a:latin typeface="Arial"/>
                          <a:ea typeface="Arial"/>
                          <a:cs typeface="Arial"/>
                          <a:sym typeface="Arial"/>
                          <a:hlinkClick r:id="rId15"/>
                        </a:rPr>
                        <a:t>»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$355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68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$5,21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176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Google Shape;113;p7"/>
          <p:cNvSpPr/>
          <p:nvPr/>
        </p:nvSpPr>
        <p:spPr>
          <a:xfrm>
            <a:off x="457200" y="4303424"/>
            <a:ext cx="5500200" cy="1279200"/>
          </a:xfrm>
          <a:prstGeom prst="roundRect">
            <a:avLst>
              <a:gd fmla="val 4615" name="adj"/>
            </a:avLst>
          </a:prstGeom>
          <a:solidFill>
            <a:srgbClr val="F3EAF7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4" name="Google Shape;114;p7"/>
          <p:cNvSpPr/>
          <p:nvPr/>
        </p:nvSpPr>
        <p:spPr>
          <a:xfrm>
            <a:off x="640080" y="4413164"/>
            <a:ext cx="51345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Драйвер </a:t>
            </a:r>
            <a:r>
              <a:rPr b="1" lang="en-US" sz="1450">
                <a:solidFill>
                  <a:srgbClr val="6B2D8E"/>
                </a:solidFill>
              </a:rPr>
              <a:t>дешевой конверсии</a:t>
            </a:r>
            <a:br>
              <a:rPr b="1" i="0" lang="en-US" sz="145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 u="sng">
                <a:solidFill>
                  <a:schemeClr val="hlink"/>
                </a:solidFill>
                <a:hlinkClick r:id="rId16"/>
              </a:rPr>
              <a:t>Пост-видео «Каждое лето прячете ноги?»</a:t>
            </a:r>
            <a:br>
              <a:rPr lang="en-US" sz="1300">
                <a:solidFill>
                  <a:srgbClr val="2B2B2B"/>
                </a:solidFill>
              </a:rPr>
            </a:br>
            <a:r>
              <a:rPr lang="en-US" sz="1300">
                <a:solidFill>
                  <a:srgbClr val="2B2B2B"/>
                </a:solidFill>
              </a:rPr>
              <a:t>CPL – 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$</a:t>
            </a:r>
            <a:r>
              <a:rPr lang="en-US" sz="1300">
                <a:solidFill>
                  <a:srgbClr val="2B2B2B"/>
                </a:solidFill>
              </a:rPr>
              <a:t>4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-US" sz="1300">
                <a:solidFill>
                  <a:srgbClr val="2B2B2B"/>
                </a:solidFill>
              </a:rPr>
              <a:t>64</a:t>
            </a:r>
            <a:br>
              <a:rPr lang="en-US" sz="1300">
                <a:solidFill>
                  <a:srgbClr val="2B2B2B"/>
                </a:solidFill>
              </a:rPr>
            </a:br>
            <a:r>
              <a:rPr lang="en-US" sz="1300">
                <a:solidFill>
                  <a:srgbClr val="2B2B2B"/>
                </a:solidFill>
              </a:rPr>
              <a:t>Переписки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300">
                <a:solidFill>
                  <a:srgbClr val="2B2B2B"/>
                </a:solidFill>
              </a:rPr>
              <a:t>579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231625" y="4303431"/>
            <a:ext cx="5500200" cy="1279200"/>
          </a:xfrm>
          <a:prstGeom prst="roundRect">
            <a:avLst>
              <a:gd fmla="val 4615" name="adj"/>
            </a:avLst>
          </a:prstGeom>
          <a:solidFill>
            <a:srgbClr val="FBEEE6"/>
          </a:solidFill>
          <a:ln cap="flat" cmpd="sng" w="12700">
            <a:solidFill>
              <a:srgbClr val="E8C9B0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16" name="Google Shape;116;p7"/>
          <p:cNvSpPr/>
          <p:nvPr/>
        </p:nvSpPr>
        <p:spPr>
          <a:xfrm>
            <a:off x="6414516" y="4413164"/>
            <a:ext cx="51345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F0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C87F0A"/>
                </a:solidFill>
                <a:latin typeface="Arial"/>
                <a:ea typeface="Arial"/>
                <a:cs typeface="Arial"/>
                <a:sym typeface="Arial"/>
              </a:rPr>
              <a:t>Отключены (CPL &gt; $7 / нет открута)</a:t>
            </a:r>
            <a:br>
              <a:rPr b="1" i="0" lang="en-US" sz="1450" u="none" cap="none" strike="noStrike">
                <a:solidFill>
                  <a:srgbClr val="C87F0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идео «В летнее время варикоз становится только </a:t>
            </a:r>
            <a:r>
              <a:rPr lang="en-US" sz="1300" u="sng">
                <a:solidFill>
                  <a:schemeClr val="hlink"/>
                </a:solidFill>
                <a:hlinkClick r:id="rId18"/>
              </a:rPr>
              <a:t>хуже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»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$7,26</a:t>
            </a:r>
            <a:br>
              <a:rPr lang="en-US" sz="1300">
                <a:solidFill>
                  <a:srgbClr val="2B2B2B"/>
                </a:solidFill>
              </a:rPr>
            </a:b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видео «Ноги гудят к </a:t>
            </a:r>
            <a:r>
              <a:rPr lang="en-US" sz="1300" u="sng">
                <a:solidFill>
                  <a:schemeClr val="hlink"/>
                </a:solidFill>
                <a:hlinkClick r:id="rId21"/>
              </a:rPr>
              <a:t>вечеру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2"/>
              </a:rPr>
              <a:t>»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$7,12</a:t>
            </a:r>
            <a:br>
              <a:rPr lang="en-US" sz="1300">
                <a:solidFill>
                  <a:srgbClr val="2B2B2B"/>
                </a:solidFill>
              </a:rPr>
            </a:b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статика </a:t>
            </a:r>
            <a:r>
              <a:rPr lang="en-US" sz="1300" u="sng">
                <a:solidFill>
                  <a:schemeClr val="hlink"/>
                </a:solidFill>
                <a:hlinkClick r:id="rId24"/>
              </a:rPr>
              <a:t>«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5"/>
              </a:rPr>
              <a:t>Теперь в алматы 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6"/>
              </a:rPr>
              <a:t>may</a:t>
            </a:r>
            <a:r>
              <a:rPr lang="en-US" sz="1300" u="sng">
                <a:solidFill>
                  <a:schemeClr val="hlink"/>
                </a:solidFill>
                <a:hlinkClick r:id="rId27"/>
              </a:rPr>
              <a:t>»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8"/>
              </a:rPr>
              <a:t>_1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$7,76</a:t>
            </a:r>
            <a:br>
              <a:rPr lang="en-US" sz="1300">
                <a:solidFill>
                  <a:srgbClr val="2B2B2B"/>
                </a:solidFill>
              </a:rPr>
            </a:b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9"/>
              </a:rPr>
              <a:t>статика</a:t>
            </a:r>
            <a:r>
              <a:rPr b="0" i="0" lang="en-US" sz="13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0"/>
              </a:rPr>
              <a:t> </a:t>
            </a:r>
            <a:r>
              <a:rPr lang="en-US" sz="1300" u="sng">
                <a:solidFill>
                  <a:schemeClr val="hlink"/>
                </a:solidFill>
                <a:hlinkClick r:id="rId31"/>
              </a:rPr>
              <a:t>«</a:t>
            </a:r>
            <a:r>
              <a:rPr lang="en-US" sz="1300" u="sng">
                <a:solidFill>
                  <a:schemeClr val="hlink"/>
                </a:solidFill>
                <a:hlinkClick r:id="rId32"/>
              </a:rPr>
              <a:t>Жара отеки тяжесть</a:t>
            </a:r>
            <a:r>
              <a:rPr lang="en-US" sz="1300" u="sng">
                <a:solidFill>
                  <a:schemeClr val="hlink"/>
                </a:solidFill>
                <a:hlinkClick r:id="rId33"/>
              </a:rPr>
              <a:t>»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$8,39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Meta Ads — вовлечённость и органика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57200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8"/>
          <p:cNvSpPr/>
          <p:nvPr/>
        </p:nvSpPr>
        <p:spPr>
          <a:xfrm>
            <a:off x="457200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9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307 171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548640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Взаим. со страницей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48640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оба формата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344418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0" name="Google Shape;130;p8"/>
          <p:cNvSpPr/>
          <p:nvPr/>
        </p:nvSpPr>
        <p:spPr>
          <a:xfrm>
            <a:off x="3344418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9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686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435858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Подписки Instagram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435858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новых подписчиков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6231636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4" name="Google Shape;134;p8"/>
          <p:cNvSpPr/>
          <p:nvPr/>
        </p:nvSpPr>
        <p:spPr>
          <a:xfrm>
            <a:off x="6231636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9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9 075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323076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Клики трафик→WA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323076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баннеры interesy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118854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p8"/>
          <p:cNvSpPr/>
          <p:nvPr/>
        </p:nvSpPr>
        <p:spPr>
          <a:xfrm>
            <a:off x="9118854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29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40%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9210294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Досмотр видео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210294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лучшее крео (95/25)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457200" y="3017525"/>
            <a:ext cx="11274600" cy="2926200"/>
          </a:xfrm>
          <a:prstGeom prst="roundRect">
            <a:avLst>
              <a:gd fmla="val 1667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2" name="Google Shape;142;p8"/>
          <p:cNvSpPr/>
          <p:nvPr/>
        </p:nvSpPr>
        <p:spPr>
          <a:xfrm>
            <a:off x="777246" y="3200400"/>
            <a:ext cx="107259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Органический эффект рекламы</a:t>
            </a: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16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Вовлечённость и подписки формируют «тёплый» пул для ремаркетинга.</a:t>
            </a:r>
            <a:b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Глубина видео:</a:t>
            </a:r>
            <a:r>
              <a:rPr lang="en-US" sz="1350">
                <a:solidFill>
                  <a:srgbClr val="2B2B2B"/>
                </a:solidFill>
              </a:rPr>
              <a:t> 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лучшие кре</a:t>
            </a:r>
            <a:r>
              <a:rPr lang="en-US" sz="1350">
                <a:solidFill>
                  <a:srgbClr val="2B2B2B"/>
                </a:solidFill>
              </a:rPr>
              <a:t>ативы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удерживают внимание до 95%.</a:t>
            </a:r>
            <a:br>
              <a:rPr lang="en-US" sz="1350">
                <a:solidFill>
                  <a:srgbClr val="2B2B2B"/>
                </a:solidFill>
              </a:rPr>
            </a:br>
            <a:r>
              <a:rPr lang="en-US" sz="1350">
                <a:solidFill>
                  <a:srgbClr val="2B2B2B"/>
                </a:solidFill>
              </a:rPr>
              <a:t>Лучший видеокреатив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на </a:t>
            </a:r>
            <a:r>
              <a:rPr lang="en-US" sz="1350">
                <a:solidFill>
                  <a:srgbClr val="2B2B2B"/>
                </a:solidFill>
              </a:rPr>
              <a:t>л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ид-форм</a:t>
            </a:r>
            <a:r>
              <a:rPr lang="en-US" sz="1350">
                <a:solidFill>
                  <a:srgbClr val="2B2B2B"/>
                </a:solidFill>
              </a:rPr>
              <a:t>у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50" u="none">
                <a:solidFill>
                  <a:srgbClr val="2B2B2B"/>
                </a:solidFill>
              </a:rPr>
              <a:t>«Думаете, что лечение варикоза это обязательно больница»</a:t>
            </a:r>
            <a:r>
              <a:rPr b="0" i="0" lang="en-US" sz="135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 </a:t>
            </a:r>
            <a: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— досмотр 59%.</a:t>
            </a:r>
            <a:b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Аудитория видеозрителей уже достаточна для запуска ремаркетинга — приоритет на следующий период.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Google Ads — итоги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2" name="Google Shape;152;p9"/>
          <p:cNvSpPr/>
          <p:nvPr/>
        </p:nvSpPr>
        <p:spPr>
          <a:xfrm>
            <a:off x="457200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$1 399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48640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Расходы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48640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июнь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344418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56" name="Google Shape;156;p9"/>
          <p:cNvSpPr/>
          <p:nvPr/>
        </p:nvSpPr>
        <p:spPr>
          <a:xfrm>
            <a:off x="3344418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546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435858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Конверсии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3435858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ср. CPA $2,56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231636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0" name="Google Shape;160;p9"/>
          <p:cNvSpPr/>
          <p:nvPr/>
        </p:nvSpPr>
        <p:spPr>
          <a:xfrm>
            <a:off x="6231636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1.3M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323076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Показы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6323076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все форматы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9118854" y="1097280"/>
            <a:ext cx="2612898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4" name="Google Shape;164;p9"/>
          <p:cNvSpPr/>
          <p:nvPr/>
        </p:nvSpPr>
        <p:spPr>
          <a:xfrm>
            <a:off x="9118854" y="1225296"/>
            <a:ext cx="2612898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700"/>
              <a:buFont typeface="Cambria"/>
              <a:buNone/>
            </a:pPr>
            <a:r>
              <a:rPr b="1" i="0" lang="en-US" sz="30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82 631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210294" y="1762963"/>
            <a:ext cx="2430018" cy="35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Клики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9210294" y="2095805"/>
            <a:ext cx="2430018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900"/>
              <a:buFont typeface="Arial"/>
              <a:buNone/>
            </a:pPr>
            <a:r>
              <a:rPr b="0" i="0" lang="en-US" sz="120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CTR 6,38%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57200" y="2743200"/>
            <a:ext cx="5500116" cy="237744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8" name="Google Shape;168;p9"/>
          <p:cNvSpPr/>
          <p:nvPr/>
        </p:nvSpPr>
        <p:spPr>
          <a:xfrm>
            <a:off x="457200" y="2743200"/>
            <a:ext cx="5500116" cy="502920"/>
          </a:xfrm>
          <a:prstGeom prst="roundRect">
            <a:avLst>
              <a:gd fmla="val 10909" name="adj"/>
            </a:avLst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69" name="Google Shape;169;p9"/>
          <p:cNvSpPr/>
          <p:nvPr/>
        </p:nvSpPr>
        <p:spPr>
          <a:xfrm>
            <a:off x="457200" y="2999232"/>
            <a:ext cx="5500116" cy="24688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0" name="Google Shape;170;p9"/>
          <p:cNvSpPr/>
          <p:nvPr/>
        </p:nvSpPr>
        <p:spPr>
          <a:xfrm>
            <a:off x="640080" y="2743200"/>
            <a:ext cx="5134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hm_varikozanet_video  ·  Demand Gen (YouTube)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685800" y="3401568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Расходы: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$304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85800" y="3730752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Конверсии: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353  ·  CPA $0,86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85800" y="4059936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Показы: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1 253 800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85800" y="4389120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Статус:  </a:t>
            </a:r>
            <a:r>
              <a:rPr b="1" i="0" lang="en-US" sz="1450" u="none" cap="none" strike="noStrike">
                <a:solidFill>
                  <a:srgbClr val="C87F0A"/>
                </a:solidFill>
                <a:latin typeface="Arial"/>
                <a:ea typeface="Arial"/>
                <a:cs typeface="Arial"/>
                <a:sym typeface="Arial"/>
              </a:rPr>
              <a:t>Пауза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231636" y="2743200"/>
            <a:ext cx="5500116" cy="2377440"/>
          </a:xfrm>
          <a:prstGeom prst="roundRect">
            <a:avLst>
              <a:gd fmla="val 2308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6" name="Google Shape;176;p9"/>
          <p:cNvSpPr/>
          <p:nvPr/>
        </p:nvSpPr>
        <p:spPr>
          <a:xfrm>
            <a:off x="6231636" y="2743200"/>
            <a:ext cx="5500116" cy="502920"/>
          </a:xfrm>
          <a:prstGeom prst="roundRect">
            <a:avLst>
              <a:gd fmla="val 10909" name="adj"/>
            </a:avLst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7" name="Google Shape;177;p9"/>
          <p:cNvSpPr/>
          <p:nvPr/>
        </p:nvSpPr>
        <p:spPr>
          <a:xfrm>
            <a:off x="6231636" y="2999232"/>
            <a:ext cx="5500116" cy="24688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78" name="Google Shape;178;p9"/>
          <p:cNvSpPr/>
          <p:nvPr/>
        </p:nvSpPr>
        <p:spPr>
          <a:xfrm>
            <a:off x="6414516" y="2743200"/>
            <a:ext cx="513435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hm_varikozanet_almaty_gsearch_lechenie  ·  Поиск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460236" y="3401568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Расходы: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$1 095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6460236" y="3730752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Конверсии: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193  ·  CPA $5,67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6460236" y="4059936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Показы:  </a:t>
            </a:r>
            <a:r>
              <a:rPr b="1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41 228  ·  CTR 4,51%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460236" y="4389120"/>
            <a:ext cx="504291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50"/>
              <a:buFont typeface="Arial"/>
              <a:buNone/>
            </a:pPr>
            <a:r>
              <a:rPr b="0" i="0" lang="en-US" sz="1450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Статус:  </a:t>
            </a:r>
            <a:r>
              <a:rPr b="1" i="0" lang="en-US" sz="1450" u="none" cap="none" strike="noStrike">
                <a:solidFill>
                  <a:srgbClr val="B23A3A"/>
                </a:solidFill>
                <a:latin typeface="Arial"/>
                <a:ea typeface="Arial"/>
                <a:cs typeface="Arial"/>
                <a:sym typeface="Arial"/>
              </a:rPr>
              <a:t>Ограничена бюджетом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534924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6E6E"/>
              </a:buClr>
              <a:buSzPts val="1100"/>
              <a:buFont typeface="Arial"/>
              <a:buNone/>
            </a:pPr>
            <a:r>
              <a:rPr b="1" i="1" lang="en-US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Поиск — 193 конверсии, CPA улучшился. </a:t>
            </a:r>
            <a:r>
              <a:rPr b="0" i="1" lang="en-US" u="none" cap="none" strike="noStrike">
                <a:solidFill>
                  <a:srgbClr val="6E6E6E"/>
                </a:solidFill>
                <a:latin typeface="Arial"/>
                <a:ea typeface="Arial"/>
                <a:cs typeface="Arial"/>
                <a:sym typeface="Arial"/>
              </a:rPr>
              <a:t>Demand Gen давал дешёвые YouTube-конверсии, остановлен по решению клиента. Поиск ограничен бюджетом — теряем часть целевых показов.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Google Ads — ключевые слова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457200" y="1005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По группам объявлений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3" name="Google Shape;193;p10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2651750"/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Группа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Клики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Конв.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Коммерческие запросы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$1,75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31,2%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Лечение варикоза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295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$5,11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11,9%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Фразы из поисковых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$6,12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12,7%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Запись, консультация, врачи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267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18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$12,06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17,4%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10"/>
          <p:cNvSpPr/>
          <p:nvPr/>
        </p:nvSpPr>
        <p:spPr>
          <a:xfrm>
            <a:off x="7040880" y="10058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500"/>
              <a:buFont typeface="Cambria"/>
              <a:buNone/>
            </a:pPr>
            <a:r>
              <a:rPr b="1" i="0" lang="en-US" sz="18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Топ ключей по CPA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5" name="Google Shape;195;p10"/>
          <p:cNvGraphicFramePr/>
          <p:nvPr/>
        </p:nvGraphicFramePr>
        <p:xfrm>
          <a:off x="704088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2770625"/>
                <a:gridCol w="960125"/>
                <a:gridCol w="960125"/>
              </a:tblGrid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Ключевое слово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CPA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3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CTR</a:t>
                      </a:r>
                      <a:endParaRPr sz="13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варикоза нет алматы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8B57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2E8B57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$1,10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62,8%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лечение варикоза алматы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$2,50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35,7%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сосудистый хирург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$4,80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10,6%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флебологи алматы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$6,05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22,1%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флеболог алматы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$12,54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3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17,3%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0"/>
          <p:cNvSpPr/>
          <p:nvPr/>
        </p:nvSpPr>
        <p:spPr>
          <a:xfrm>
            <a:off x="457200" y="4206240"/>
            <a:ext cx="11274552" cy="2011680"/>
          </a:xfrm>
          <a:prstGeom prst="roundRect">
            <a:avLst>
              <a:gd fmla="val 2727" name="adj"/>
            </a:avLst>
          </a:prstGeom>
          <a:solidFill>
            <a:srgbClr val="F3EAF7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97" name="Google Shape;197;p10"/>
          <p:cNvSpPr/>
          <p:nvPr/>
        </p:nvSpPr>
        <p:spPr>
          <a:xfrm>
            <a:off x="685800" y="43159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Cambria"/>
              <a:buNone/>
            </a:pPr>
            <a:r>
              <a:rPr b="1" lang="en-US" sz="1700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План на июль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685800" y="4709160"/>
            <a:ext cx="1081735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Бренд «варикоза нет» — лучший CPA ($1,10) и CTR 63%: аудитория уже знает клинику, масштабировать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Группа «Коммерческие запросы» — лучший CPA среди небрендовых ($1,75): расширять семантику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«Запись, консультация, врачи» — самый дорогой CPA ($12,06): оптимизировать ставки/минус-слова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2B2B2B"/>
              </a:buClr>
              <a:buSzPts val="1450"/>
              <a:buFont typeface="Arial"/>
              <a:buChar char="•"/>
            </a:pPr>
            <a:r>
              <a:rPr b="0" i="0" lang="en-US" sz="14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Поиск ограничен бюджетом — </a:t>
            </a:r>
            <a:r>
              <a:rPr b="1" i="0" lang="en-US" sz="1450" u="none" cap="none" strike="noStrike">
                <a:solidFill>
                  <a:srgbClr val="2B2B2B"/>
                </a:solidFill>
              </a:rPr>
              <a:t>рекомендуем поднять лимит для конвертирующих ключей</a:t>
            </a:r>
            <a:endParaRPr b="1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Google Ads — статистика аукционов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500"/>
              <a:buFont typeface="Cambria"/>
              <a:buNone/>
            </a:pPr>
            <a:r>
              <a:rPr b="1" i="0" lang="en-US" sz="17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Конкуренты в поисковой выдаче (Алматы, флебология)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11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{415575F5-DA7C-47B6-8428-98D2A7B5026B}</a:tableStyleId>
              </a:tblPr>
              <a:tblGrid>
                <a:gridCol w="4480550"/>
                <a:gridCol w="1554475"/>
                <a:gridCol w="1828800"/>
                <a:gridCol w="1737350"/>
                <a:gridCol w="16733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Домен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Доля показов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Степень пересечения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Доля позиции выше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Верх страницы</a:t>
                      </a:r>
                      <a:endParaRPr sz="12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B2D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2D8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6B2D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Варикоза Нет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B2D8E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6B2D8E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30,09%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33,72%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emirmed.kz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21,20%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33,07%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33,17%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19,38%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doq.kz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19,59%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32,21%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26,20%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10,36%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2B2B"/>
                          </a:solidFill>
                        </a:rPr>
                        <a:t>duetclinic.kz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2B2B"/>
                          </a:solidFill>
                        </a:rPr>
                        <a:t>18,57%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2B2B2B"/>
                          </a:solidFill>
                        </a:rPr>
                        <a:t>27,74%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96,41%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B23A3A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B2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80,42%</a:t>
                      </a:r>
                      <a:endParaRPr b="1" sz="12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alashclinic.kz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11,27%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13,08%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30,20%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17,52%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avenia.kz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10,02%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21,79%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14,01%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6,51%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E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onclinic · aqmed · detralex · mediterra · cmclinic · chatium · idoctor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 10%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B2B2B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rgbClr val="2B2B2B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—</a:t>
                      </a:r>
                      <a:endParaRPr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CB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1"/>
          <p:cNvSpPr/>
          <p:nvPr/>
        </p:nvSpPr>
        <p:spPr>
          <a:xfrm>
            <a:off x="457200" y="5257800"/>
            <a:ext cx="11274552" cy="1005840"/>
          </a:xfrm>
          <a:prstGeom prst="roundRect">
            <a:avLst>
              <a:gd fmla="val 5455" name="adj"/>
            </a:avLst>
          </a:prstGeom>
          <a:solidFill>
            <a:srgbClr val="F3EAF7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0" name="Google Shape;210;p11"/>
          <p:cNvSpPr/>
          <p:nvPr/>
        </p:nvSpPr>
        <p:spPr>
          <a:xfrm>
            <a:off x="685800" y="5349240"/>
            <a:ext cx="108173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Лидируем по доле показов (30%). </a:t>
            </a: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Но </a:t>
            </a:r>
            <a:r>
              <a:rPr b="1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duetclinic.kz</a:t>
            </a: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обгоняет нас в 96% пересечений и почти всегда стоит на самой верхней позиции (80%) — ключевая точка внимания в аукционе.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"/>
          <p:cNvSpPr/>
          <p:nvPr/>
        </p:nvSpPr>
        <p:spPr>
          <a:xfrm>
            <a:off x="0" y="0"/>
            <a:ext cx="12189000" cy="841200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"/>
          <p:cNvSpPr/>
          <p:nvPr/>
        </p:nvSpPr>
        <p:spPr>
          <a:xfrm>
            <a:off x="457200" y="0"/>
            <a:ext cx="107259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ambria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Google Ads — аукционы: почему это </a:t>
            </a:r>
            <a:r>
              <a:rPr b="1" i="0" lang="en-US" sz="2100" u="none" cap="none" strike="noStrike">
                <a:solidFill>
                  <a:srgbClr val="FFE0A3"/>
                </a:solidFill>
                <a:latin typeface="Cambria"/>
                <a:ea typeface="Cambria"/>
                <a:cs typeface="Cambria"/>
                <a:sym typeface="Cambria"/>
              </a:rPr>
              <a:t>не проигрыш</a:t>
            </a:r>
            <a:r>
              <a:rPr b="1" i="0" lang="en-US" sz="2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 </a:t>
            </a:r>
            <a:r>
              <a:rPr b="1" i="0" lang="en-US" sz="1800" u="none" cap="none" strike="noStrike">
                <a:solidFill>
                  <a:srgbClr val="E3CFF2"/>
                </a:solidFill>
                <a:latin typeface="Cambria"/>
                <a:ea typeface="Cambria"/>
                <a:cs typeface="Cambria"/>
                <a:sym typeface="Cambria"/>
              </a:rPr>
              <a:t>| Июнь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11183112" y="0"/>
            <a:ext cx="6402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500">
                <a:solidFill>
                  <a:srgbClr val="E7D6F2"/>
                </a:solidFill>
              </a:rPr>
              <a:t>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457200" y="1005840"/>
            <a:ext cx="11274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Три метрики измеряют </a:t>
            </a:r>
            <a:r>
              <a:rPr b="1" i="0" lang="en-US" sz="130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разное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— их нельзя складывать в один вывод «кто сильнее». Доля показов считается по </a:t>
            </a:r>
            <a:r>
              <a:rPr b="0" i="1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всем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аукционам, а «позиция выше» и «верх страницы» — </a:t>
            </a:r>
            <a:r>
              <a:rPr i="0" lang="en-US" sz="1300" u="none" cap="none" strike="noStrike">
                <a:solidFill>
                  <a:srgbClr val="2B2B2B"/>
                </a:solidFill>
              </a:rPr>
              <a:t>только внутри пересечений</a:t>
            </a:r>
            <a:r>
              <a:rPr b="0" i="0" lang="en-US" sz="13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, где мы столкнулись лоб в лоб.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457200" y="1783080"/>
            <a:ext cx="3575400" cy="23316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58368" y="1947672"/>
            <a:ext cx="31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МЫ 30% · DUETCLINIC 18,6%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58368" y="2194560"/>
            <a:ext cx="317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Шире охват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658368" y="2715768"/>
            <a:ext cx="317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Доля показов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58368" y="3026664"/>
            <a:ext cx="3173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Доля аукционов, где мы могли показаться и показались. У нас 30% — больше всех на рынке; конкурент участвует заметно реже и на меньшем числе запросов.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4306824" y="1783080"/>
            <a:ext cx="3575400" cy="23316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4507992" y="1947672"/>
            <a:ext cx="31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ПЕРЕСЕЧЕНИЕ 27,7%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4507992" y="2194560"/>
            <a:ext cx="317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9B59B6"/>
                </a:solidFill>
                <a:latin typeface="Cambria"/>
                <a:ea typeface="Cambria"/>
                <a:cs typeface="Cambria"/>
                <a:sym typeface="Cambria"/>
              </a:rPr>
              <a:t>Редко вместе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507992" y="2715768"/>
            <a:ext cx="317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Степень пересечения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07992" y="3026664"/>
            <a:ext cx="3173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Как часто мы попадаем с duetclinic в один и тот же аукцион. Напрямую конкурируем лишь в ~четверти их показов — в остальных мы на разных запросах.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8156448" y="1783080"/>
            <a:ext cx="3575400" cy="2331600"/>
          </a:xfrm>
          <a:prstGeom prst="roundRect">
            <a:avLst>
              <a:gd fmla="val 2745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8357616" y="1947672"/>
            <a:ext cx="317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9B6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9B59B6"/>
                </a:solidFill>
                <a:latin typeface="Arial"/>
                <a:ea typeface="Arial"/>
                <a:cs typeface="Arial"/>
                <a:sym typeface="Arial"/>
              </a:rPr>
              <a:t>ВЫШЕ НАС 96% · ВЕРХ 80%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8357616" y="2194560"/>
            <a:ext cx="3173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3A3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B23A3A"/>
                </a:solidFill>
                <a:latin typeface="Cambria"/>
                <a:ea typeface="Cambria"/>
                <a:cs typeface="Cambria"/>
                <a:sym typeface="Cambria"/>
              </a:rPr>
              <a:t>Внутри стычек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8357616" y="2715768"/>
            <a:ext cx="3173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Позиция выше / верх страницы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8357616" y="3026664"/>
            <a:ext cx="3173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Считается ТОЛЬКО внутри пересечений. Там, где сталкиваемся лоб в лоб, duetclinic почти всегда встаёт выше — но это узкий фронт, а не весь рынок.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457200" y="4343400"/>
            <a:ext cx="11274600" cy="1051500"/>
          </a:xfrm>
          <a:prstGeom prst="roundRect">
            <a:avLst>
              <a:gd fmla="val 5217" name="adj"/>
            </a:avLst>
          </a:prstGeom>
          <a:solidFill>
            <a:srgbClr val="F3EAF7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685800" y="4434840"/>
            <a:ext cx="108174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Причина: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стратегия ставо</a:t>
            </a:r>
            <a:r>
              <a:rPr lang="en-US" sz="1150">
                <a:solidFill>
                  <a:srgbClr val="2B2B2B"/>
                </a:solidFill>
              </a:rPr>
              <a:t>к –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duetclinic держит агрессивную ставку на узком наборе горячих запросов. Мы распределяем бюджет по</a:t>
            </a:r>
            <a:r>
              <a:rPr lang="en-US" sz="1150">
                <a:solidFill>
                  <a:srgbClr val="2B2B2B"/>
                </a:solidFill>
              </a:rPr>
              <a:t> более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широкой семантике, а поисковая кампания </a:t>
            </a:r>
            <a:r>
              <a:rPr i="0" lang="en-US" sz="1150" u="none" cap="none" strike="noStrike">
                <a:solidFill>
                  <a:srgbClr val="2B2B2B"/>
                </a:solidFill>
              </a:rPr>
              <a:t>ограничена бюджетом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— поэтому в прямой стычке уступаем ставку на верхних позициях.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457200" y="5532120"/>
            <a:ext cx="11274600" cy="1005900"/>
          </a:xfrm>
          <a:prstGeom prst="roundRect">
            <a:avLst>
              <a:gd fmla="val 5455" name="adj"/>
            </a:avLst>
          </a:prstGeom>
          <a:solidFill>
            <a:srgbClr val="EAF5EF"/>
          </a:solidFill>
          <a:ln cap="flat" cmpd="sng" w="12700">
            <a:solidFill>
              <a:srgbClr val="BFE0CD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2"/>
          <p:cNvSpPr/>
          <p:nvPr/>
        </p:nvSpPr>
        <p:spPr>
          <a:xfrm>
            <a:off x="685800" y="5623560"/>
            <a:ext cx="108174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Вывод: 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мы лидируем по общему присутствию (30% доли показов — №1 на рынке), а на узком поле самых горячих ключей конкурент перебивает нас ставкой. Это </a:t>
            </a:r>
            <a:r>
              <a:rPr i="0" lang="en-US" sz="1150" u="none" cap="none" strike="noStrike">
                <a:solidFill>
                  <a:srgbClr val="2E8B57"/>
                </a:solidFill>
              </a:rPr>
              <a:t>точка роста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: снять лимит бюджета Search</a:t>
            </a:r>
            <a:r>
              <a:rPr lang="en-US" sz="1150">
                <a:solidFill>
                  <a:srgbClr val="2B2B2B"/>
                </a:solidFill>
              </a:rPr>
              <a:t>, 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поднять ставки на брендовых/топ-коммерческих ключах </a:t>
            </a:r>
            <a:r>
              <a:rPr lang="en-US" sz="1150">
                <a:solidFill>
                  <a:srgbClr val="2B2B2B"/>
                </a:solidFill>
              </a:rPr>
              <a:t>и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подумать о стратегии назначения </a:t>
            </a:r>
            <a:r>
              <a:rPr lang="en-US" sz="1150">
                <a:solidFill>
                  <a:srgbClr val="2B2B2B"/>
                </a:solidFill>
              </a:rPr>
              <a:t>ставок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2B2B2B"/>
                </a:solidFill>
              </a:rPr>
              <a:t>«</a:t>
            </a:r>
            <a:r>
              <a:rPr lang="en-US" sz="1150">
                <a:solidFill>
                  <a:srgbClr val="2B2B2B"/>
                </a:solidFill>
              </a:rPr>
              <a:t>Процент полученных показов</a:t>
            </a:r>
            <a:r>
              <a:rPr lang="en-US" sz="1300">
                <a:solidFill>
                  <a:srgbClr val="2B2B2B"/>
                </a:solidFill>
              </a:rPr>
              <a:t>»</a:t>
            </a:r>
            <a:r>
              <a:rPr b="0" i="0" lang="en-US" sz="11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— заберём верх и там, где сейчас уступаем.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1FB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Аналитика и выводы — июнь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E7D6F2"/>
                </a:solidFill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3"/>
          <p:cNvSpPr/>
          <p:nvPr/>
        </p:nvSpPr>
        <p:spPr>
          <a:xfrm>
            <a:off x="457200" y="1051560"/>
            <a:ext cx="11274552" cy="1051560"/>
          </a:xfrm>
          <a:prstGeom prst="roundRect">
            <a:avLst>
              <a:gd fmla="val 5217" name="adj"/>
            </a:avLst>
          </a:prstGeom>
          <a:solidFill>
            <a:srgbClr val="EADCF3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685800" y="1143000"/>
            <a:ext cx="1081735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300"/>
              <a:buFont typeface="Arial"/>
              <a:buNone/>
            </a:pPr>
            <a:r>
              <a:rPr b="1" i="0" lang="en-US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  <a:t>Ключевой вопрос эффективности:  CPL Meta $5,87  ·  Консультация с УЗИ 4 900 ₸ (~$9,8)</a:t>
            </a:r>
            <a:br>
              <a:rPr b="1" i="0" lang="en-US" u="none" cap="none" strike="noStrike">
                <a:solidFill>
                  <a:srgbClr val="6B2D8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На первом визите реклама рентабельна уже при конверсии лид → консультация от ~50%. Конверсия лид → операция (от 240 000 ₸) кратно повышает окупаемость — эти данные всё ещё нужны от клиента.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457200" y="2331720"/>
            <a:ext cx="3575304" cy="3931920"/>
          </a:xfrm>
          <a:prstGeom prst="roundRect">
            <a:avLst>
              <a:gd fmla="val 1535" name="adj"/>
            </a:avLst>
          </a:prstGeom>
          <a:solidFill>
            <a:srgbClr val="EAF5E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0" name="Google Shape;250;p13"/>
          <p:cNvSpPr/>
          <p:nvPr/>
        </p:nvSpPr>
        <p:spPr>
          <a:xfrm>
            <a:off x="640080" y="2468880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2E8B57"/>
                </a:solidFill>
                <a:latin typeface="Cambria"/>
                <a:ea typeface="Cambria"/>
                <a:cs typeface="Cambria"/>
                <a:sym typeface="Cambria"/>
              </a:rPr>
              <a:t>Что работает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3"/>
          <p:cNvSpPr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lang="en-US">
                <a:solidFill>
                  <a:srgbClr val="2B2B2B"/>
                </a:solidFill>
              </a:rPr>
              <a:t>Пост-видео «Каждое лето прячете ноги?»</a:t>
            </a: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— CPL $4,64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Казахские креативы — стабильный объём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Статика may_4 — объём 579 переписок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Google бренд + коммерч. — CPA $1,1–1,75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Запущен LAL на базу клиентов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4306824" y="2331720"/>
            <a:ext cx="3575304" cy="3931920"/>
          </a:xfrm>
          <a:prstGeom prst="roundRect">
            <a:avLst>
              <a:gd fmla="val 1535" name="adj"/>
            </a:avLst>
          </a:prstGeom>
          <a:solidFill>
            <a:srgbClr val="FBF3E6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3" name="Google Shape;253;p13"/>
          <p:cNvSpPr/>
          <p:nvPr/>
        </p:nvSpPr>
        <p:spPr>
          <a:xfrm>
            <a:off x="4489704" y="2468880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7F0A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C87F0A"/>
                </a:solidFill>
                <a:latin typeface="Cambria"/>
                <a:ea typeface="Cambria"/>
                <a:cs typeface="Cambria"/>
                <a:sym typeface="Cambria"/>
              </a:rPr>
              <a:t>Проблемы периода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Блок IG + смена страницы = дообучение, CPL временно выше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Лид-формы — качество на старте (широкая ауд. + др. города)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Google Search ограничен бюджетом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duetclinic давит в аукционе (96% выше нас)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8156448" y="2331720"/>
            <a:ext cx="3575304" cy="3931920"/>
          </a:xfrm>
          <a:prstGeom prst="roundRect">
            <a:avLst>
              <a:gd fmla="val 1535" name="adj"/>
            </a:avLst>
          </a:prstGeom>
          <a:solidFill>
            <a:srgbClr val="F1E8F7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56" name="Google Shape;256;p13"/>
          <p:cNvSpPr/>
          <p:nvPr/>
        </p:nvSpPr>
        <p:spPr>
          <a:xfrm>
            <a:off x="8339328" y="2468880"/>
            <a:ext cx="320954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2D8E"/>
              </a:buClr>
              <a:buSzPts val="1400"/>
              <a:buFont typeface="Cambria"/>
              <a:buNone/>
            </a:pPr>
            <a:r>
              <a:rPr b="1" i="0" lang="en-US" sz="1800" u="none" cap="none" strike="noStrike">
                <a:solidFill>
                  <a:srgbClr val="6B2D8E"/>
                </a:solidFill>
                <a:latin typeface="Cambria"/>
                <a:ea typeface="Cambria"/>
                <a:cs typeface="Cambria"/>
                <a:sym typeface="Cambria"/>
              </a:rPr>
              <a:t>Важные моменты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619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Конверсия лид → операция неизвестна — запросить у клиента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Оценить качество лид-форм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1950" lvl="0" marL="342900" marR="0" rtl="0" algn="l">
              <a:spcBef>
                <a:spcPts val="700"/>
              </a:spcBef>
              <a:spcAft>
                <a:spcPts val="0"/>
              </a:spcAft>
              <a:buClr>
                <a:srgbClr val="2B2B2B"/>
              </a:buClr>
              <a:buSzPts val="1400"/>
              <a:buFont typeface="Arial"/>
              <a:buChar char="•"/>
            </a:pPr>
            <a:r>
              <a:rPr b="0" i="0" lang="en-US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LAL и ремаркетинг — полноценно раскрутить в июле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457200" y="0"/>
            <a:ext cx="1072591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Рекомендации на следующий период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11183112" y="0"/>
            <a:ext cx="640080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D6F2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7D6F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500">
                <a:solidFill>
                  <a:srgbClr val="E7D6F2"/>
                </a:solidFill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457200" y="1143000"/>
            <a:ext cx="2612898" cy="4937760"/>
          </a:xfrm>
          <a:prstGeom prst="roundRect">
            <a:avLst>
              <a:gd fmla="val 2450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67" name="Google Shape;267;p14"/>
          <p:cNvSpPr/>
          <p:nvPr/>
        </p:nvSpPr>
        <p:spPr>
          <a:xfrm>
            <a:off x="457200" y="1143000"/>
            <a:ext cx="2612898" cy="868680"/>
          </a:xfrm>
          <a:prstGeom prst="roundRect">
            <a:avLst>
              <a:gd fmla="val 7368" name="adj"/>
            </a:avLst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457200" y="1600200"/>
            <a:ext cx="2612898" cy="411480"/>
          </a:xfrm>
          <a:prstGeom prst="rect">
            <a:avLst/>
          </a:prstGeom>
          <a:solidFill>
            <a:srgbClr val="6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640080" y="1252728"/>
            <a:ext cx="2247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4F7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0E4F7"/>
                </a:solidFill>
                <a:latin typeface="Arial"/>
                <a:ea typeface="Arial"/>
                <a:cs typeface="Arial"/>
                <a:sym typeface="Arial"/>
              </a:rPr>
              <a:t>META 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4"/>
          <p:cNvSpPr/>
          <p:nvPr/>
        </p:nvSpPr>
        <p:spPr>
          <a:xfrm>
            <a:off x="640080" y="1490472"/>
            <a:ext cx="2247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Масштаб победителей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/>
          <p:nvPr/>
        </p:nvSpPr>
        <p:spPr>
          <a:xfrm>
            <a:off x="640080" y="2194560"/>
            <a:ext cx="2247138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Масштабировать пост-видео </a:t>
            </a:r>
            <a:r>
              <a:rPr lang="en-US" sz="1650">
                <a:solidFill>
                  <a:srgbClr val="2B2B2B"/>
                </a:solidFill>
              </a:rPr>
              <a:t>Пост-видео «Каждое лето прячете ноги?»</a:t>
            </a: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и видео </a:t>
            </a: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«Думаете</a:t>
            </a:r>
            <a:r>
              <a:rPr lang="en-US" sz="1650">
                <a:solidFill>
                  <a:srgbClr val="2B2B2B"/>
                </a:solidFill>
              </a:rPr>
              <a:t>…</a:t>
            </a: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»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Докрутить LAL на базу клиентов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Ремаркетинг на видеозрителей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/>
          <p:nvPr/>
        </p:nvSpPr>
        <p:spPr>
          <a:xfrm>
            <a:off x="3344418" y="1143000"/>
            <a:ext cx="2612898" cy="4937760"/>
          </a:xfrm>
          <a:prstGeom prst="roundRect">
            <a:avLst>
              <a:gd fmla="val 2450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3" name="Google Shape;273;p14"/>
          <p:cNvSpPr/>
          <p:nvPr/>
        </p:nvSpPr>
        <p:spPr>
          <a:xfrm>
            <a:off x="3344418" y="1143000"/>
            <a:ext cx="2612898" cy="868680"/>
          </a:xfrm>
          <a:prstGeom prst="roundRect">
            <a:avLst>
              <a:gd fmla="val 7368" name="adj"/>
            </a:avLst>
          </a:prstGeom>
          <a:solidFill>
            <a:srgbClr val="7A3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4"/>
          <p:cNvSpPr/>
          <p:nvPr/>
        </p:nvSpPr>
        <p:spPr>
          <a:xfrm>
            <a:off x="3344418" y="1600200"/>
            <a:ext cx="2612898" cy="411480"/>
          </a:xfrm>
          <a:prstGeom prst="rect">
            <a:avLst/>
          </a:prstGeom>
          <a:solidFill>
            <a:srgbClr val="7A3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4"/>
          <p:cNvSpPr/>
          <p:nvPr/>
        </p:nvSpPr>
        <p:spPr>
          <a:xfrm>
            <a:off x="3527298" y="1252728"/>
            <a:ext cx="2247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4F7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0E4F7"/>
                </a:solidFill>
                <a:latin typeface="Arial"/>
                <a:ea typeface="Arial"/>
                <a:cs typeface="Arial"/>
                <a:sym typeface="Arial"/>
              </a:rPr>
              <a:t>GOOGLE 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3527298" y="1490472"/>
            <a:ext cx="2247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Развитие поиска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3527298" y="2194560"/>
            <a:ext cx="2247138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2B2B2B"/>
                </a:solidFill>
              </a:rPr>
              <a:t>Пересмотреть</a:t>
            </a: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бюджет Search (ограничен)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Расширять коммерческие + бренд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Оптимизировать «запись/врачи»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lang="en-US" sz="1650">
                <a:solidFill>
                  <a:srgbClr val="2B2B2B"/>
                </a:solidFill>
              </a:rPr>
              <a:t>Подумать о возвращении</a:t>
            </a: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 video </a:t>
            </a:r>
            <a:r>
              <a:rPr lang="en-US" sz="1650">
                <a:solidFill>
                  <a:srgbClr val="2B2B2B"/>
                </a:solidFill>
              </a:rPr>
              <a:t>кампании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231636" y="1143000"/>
            <a:ext cx="2612898" cy="4937760"/>
          </a:xfrm>
          <a:prstGeom prst="roundRect">
            <a:avLst>
              <a:gd fmla="val 2450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79" name="Google Shape;279;p14"/>
          <p:cNvSpPr/>
          <p:nvPr/>
        </p:nvSpPr>
        <p:spPr>
          <a:xfrm>
            <a:off x="6231636" y="1143000"/>
            <a:ext cx="2612898" cy="868680"/>
          </a:xfrm>
          <a:prstGeom prst="roundRect">
            <a:avLst>
              <a:gd fmla="val 7368" name="adj"/>
            </a:avLst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6231636" y="1600200"/>
            <a:ext cx="2612898" cy="4114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6414516" y="1252728"/>
            <a:ext cx="2247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4F7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0E4F7"/>
                </a:solidFill>
                <a:latin typeface="Arial"/>
                <a:ea typeface="Arial"/>
                <a:cs typeface="Arial"/>
                <a:sym typeface="Arial"/>
              </a:rPr>
              <a:t>КРЕАТИВЫ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4"/>
          <p:cNvSpPr/>
          <p:nvPr/>
        </p:nvSpPr>
        <p:spPr>
          <a:xfrm>
            <a:off x="6414516" y="1490472"/>
            <a:ext cx="2247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Новые сценарии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4"/>
          <p:cNvSpPr/>
          <p:nvPr/>
        </p:nvSpPr>
        <p:spPr>
          <a:xfrm>
            <a:off x="6414516" y="2194560"/>
            <a:ext cx="2247138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Больше казахских версий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Переснять победителей с летним оффером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Тест креативов по новым сегментам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Держать вертикаль 9:16 + субтитры</a:t>
            </a:r>
            <a:endParaRPr b="0" i="0" sz="1650" u="none" cap="none" strike="noStrike">
              <a:solidFill>
                <a:srgbClr val="2B2B2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Char char="•"/>
            </a:pPr>
            <a:r>
              <a:rPr lang="en-US" sz="1650">
                <a:solidFill>
                  <a:srgbClr val="2B2B2B"/>
                </a:solidFill>
              </a:rPr>
              <a:t>Попробовать запуск большего количества постов внутри аккаунта в рекламу</a:t>
            </a:r>
            <a:endParaRPr sz="1650">
              <a:solidFill>
                <a:srgbClr val="2B2B2B"/>
              </a:solidFill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9118854" y="1143000"/>
            <a:ext cx="2612898" cy="4937760"/>
          </a:xfrm>
          <a:prstGeom prst="roundRect">
            <a:avLst>
              <a:gd fmla="val 2450" name="adj"/>
            </a:avLst>
          </a:prstGeom>
          <a:solidFill>
            <a:srgbClr val="FFFFFF"/>
          </a:solidFill>
          <a:ln cap="flat" cmpd="sng" w="12700">
            <a:solidFill>
              <a:srgbClr val="D8CBE4"/>
            </a:solidFill>
            <a:prstDash val="solid"/>
            <a:round/>
            <a:headEnd len="sm" w="sm" type="none"/>
            <a:tailEnd len="sm" w="sm" type="none"/>
          </a:ln>
          <a:effectLst>
            <a:outerShdw blurRad="889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85" name="Google Shape;285;p14"/>
          <p:cNvSpPr/>
          <p:nvPr/>
        </p:nvSpPr>
        <p:spPr>
          <a:xfrm>
            <a:off x="9118854" y="1143000"/>
            <a:ext cx="2612898" cy="868680"/>
          </a:xfrm>
          <a:prstGeom prst="roundRect">
            <a:avLst>
              <a:gd fmla="val 7368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9118854" y="1600200"/>
            <a:ext cx="2612898" cy="4114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"/>
          <p:cNvSpPr/>
          <p:nvPr/>
        </p:nvSpPr>
        <p:spPr>
          <a:xfrm>
            <a:off x="9301734" y="1252728"/>
            <a:ext cx="224713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E4F7"/>
              </a:buClr>
              <a:buSzPts val="1000"/>
              <a:buFont typeface="Arial"/>
              <a:buNone/>
            </a:pPr>
            <a:r>
              <a:rPr b="0" i="0" lang="en-US" sz="1200" u="none" cap="none" strike="noStrike">
                <a:solidFill>
                  <a:srgbClr val="F0E4F7"/>
                </a:solidFill>
                <a:latin typeface="Arial"/>
                <a:ea typeface="Arial"/>
                <a:cs typeface="Arial"/>
                <a:sym typeface="Arial"/>
              </a:rPr>
              <a:t>АНАЛИТИКА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9301734" y="1490472"/>
            <a:ext cx="22471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Воронка и гео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9301734" y="2194560"/>
            <a:ext cx="2247138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Получить лид → запись → операция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Посчитать реальный ROI по операциям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Следить за гео всех адсетов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B2B2B"/>
              </a:buClr>
              <a:buSzPts val="1650"/>
              <a:buFont typeface="Arial"/>
              <a:buChar char="•"/>
            </a:pPr>
            <a:r>
              <a:rPr b="0" i="0" lang="en-US" sz="1650" u="none" cap="none" strike="noStrike">
                <a:solidFill>
                  <a:srgbClr val="2B2B2B"/>
                </a:solidFill>
                <a:latin typeface="Arial"/>
                <a:ea typeface="Arial"/>
                <a:cs typeface="Arial"/>
                <a:sym typeface="Arial"/>
              </a:rPr>
              <a:t>Мониторить аукцион (duetclinic)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165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4A1E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4A1E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457200" y="2468880"/>
            <a:ext cx="10972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Спасибо за внимание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7ED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57ED0"/>
                </a:solidFill>
                <a:latin typeface="Arial"/>
                <a:ea typeface="Arial"/>
                <a:cs typeface="Arial"/>
                <a:sym typeface="Arial"/>
              </a:rPr>
              <a:t>Отчёт подготовлен: Holy Media  ·  Варикоза Нет  ·  Июнь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